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1" r:id="rId4"/>
    <p:sldId id="262" r:id="rId5"/>
    <p:sldId id="263" r:id="rId6"/>
    <p:sldId id="265" r:id="rId7"/>
    <p:sldId id="266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22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4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919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02548-195E-D1DD-ADE2-7FF1E121E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CEA438-68D8-3A03-C4DC-B41AE9D9B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62C3F-3144-2B55-9E11-1899590D0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DA36D-5EF0-46F6-66C1-01B028413B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327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D2C15-85A7-34DE-9E0E-725E065F6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9DDE47-7579-0CCE-586C-E41DE7DC4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F32308-B878-40D1-D0D5-CCBD14EB3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E0683-5253-D40C-7D4C-67595CD142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28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443E3-2C06-0C05-421C-5D472FB8D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B0350A-77AA-A2A8-ADD3-F43B0DCCE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4B98A-D318-82A8-D5B7-19DDF1CEE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8956C-D45D-777D-54DB-25C0CCDB4F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90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5F80B-3E52-F05F-BE6F-91EDBF78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140F7-3F7F-9C86-1DB9-6B88AF21B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7C967-EC84-ACE8-2072-DB85A361B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40F60-87AB-B18F-1630-1CE535C8BC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184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4CBE1-935A-9866-2BC2-2F2EBF29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242BE3-C143-D0CD-CFDC-155DF762A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9F5C2-8FC7-DD0A-691E-F01ED38BB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E12C3-DA41-5A41-1884-BAB10B6E95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771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AAF3-62F7-EFCC-2C96-66583DACA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7CA308-2E8C-F871-1DE7-0192F552F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F1FD2-9005-9484-A464-EBE82944C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7FC55-5FCE-C4E3-7801-8B9B1367BB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227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499" y="1828800"/>
            <a:ext cx="823928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900"/>
              </a:lnSpc>
              <a:spcAft>
                <a:spcPts val="1200"/>
              </a:spcAft>
            </a:pPr>
            <a:r>
              <a:rPr lang="en-AU" sz="2400" b="1" dirty="0" err="1">
                <a:solidFill>
                  <a:srgbClr val="92D050"/>
                </a:solidFill>
              </a:rPr>
              <a:t>LLMConvFinQA</a:t>
            </a:r>
            <a:r>
              <a:rPr lang="en-AU" sz="2400" b="1" dirty="0">
                <a:solidFill>
                  <a:srgbClr val="92D050"/>
                </a:solidFill>
              </a:rPr>
              <a:t>: Conversational Financial Question Answering</a:t>
            </a:r>
            <a:endParaRPr lang="en-AU" sz="2400" dirty="0">
              <a:solidFill>
                <a:srgbClr val="92D050"/>
              </a:solidFill>
            </a:endParaRPr>
          </a:p>
          <a:p>
            <a:pPr marL="0" indent="0" algn="l">
              <a:lnSpc>
                <a:spcPts val="3900"/>
              </a:lnSpc>
              <a:spcAft>
                <a:spcPts val="1200"/>
              </a:spcAft>
              <a:buNone/>
            </a:pPr>
            <a:r>
              <a:rPr lang="en-US" sz="3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571500" y="3101280"/>
            <a:ext cx="81610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AU" i="1" dirty="0">
                <a:solidFill>
                  <a:schemeClr val="bg1"/>
                </a:solidFill>
              </a:rPr>
              <a:t>LLM-powered system for multi-turn financial document analysis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5EDAD98-0C8E-B481-0738-EF1D28A54CF1}"/>
              </a:ext>
            </a:extLst>
          </p:cNvPr>
          <p:cNvSpPr/>
          <p:nvPr/>
        </p:nvSpPr>
        <p:spPr>
          <a:xfrm>
            <a:off x="571500" y="3512715"/>
            <a:ext cx="81610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Ammar Mohemmed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71500"/>
            <a:ext cx="40902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219200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AU" sz="2000" dirty="0">
                <a:solidFill>
                  <a:schemeClr val="bg1"/>
                </a:solidFill>
              </a:rPr>
              <a:t>The objective of this work is to design and implement an </a:t>
            </a:r>
            <a:r>
              <a:rPr lang="en-AU" sz="2000" b="1" dirty="0">
                <a:solidFill>
                  <a:schemeClr val="bg1"/>
                </a:solidFill>
              </a:rPr>
              <a:t>LLM-based solution</a:t>
            </a:r>
            <a:r>
              <a:rPr lang="en-AU" sz="2000" dirty="0">
                <a:solidFill>
                  <a:schemeClr val="bg1"/>
                </a:solidFill>
              </a:rPr>
              <a:t> for the given problem of </a:t>
            </a:r>
            <a:r>
              <a:rPr lang="en-AU" sz="2000" b="1" dirty="0">
                <a:solidFill>
                  <a:schemeClr val="bg1"/>
                </a:solidFill>
              </a:rPr>
              <a:t>conversational question answering over financial documents</a:t>
            </a:r>
            <a:r>
              <a:rPr lang="en-AU" sz="2000" dirty="0">
                <a:solidFill>
                  <a:schemeClr val="bg1"/>
                </a:solidFill>
              </a:rPr>
              <a:t>, using the provided </a:t>
            </a:r>
            <a:r>
              <a:rPr lang="en-AU" sz="2000" dirty="0" err="1">
                <a:solidFill>
                  <a:schemeClr val="bg1"/>
                </a:solidFill>
              </a:rPr>
              <a:t>ConvFinQA</a:t>
            </a:r>
            <a:r>
              <a:rPr lang="en-AU" sz="2000" dirty="0">
                <a:solidFill>
                  <a:schemeClr val="bg1"/>
                </a:solidFill>
              </a:rPr>
              <a:t> dataset (</a:t>
            </a:r>
            <a:r>
              <a:rPr lang="en-AU" sz="2000" dirty="0" err="1">
                <a:solidFill>
                  <a:schemeClr val="bg1"/>
                </a:solidFill>
              </a:rPr>
              <a:t>dev_turn.json</a:t>
            </a:r>
            <a:r>
              <a:rPr lang="en-AU" sz="2000" dirty="0">
                <a:solidFill>
                  <a:schemeClr val="bg1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60FDFA-BCC2-E8D9-0C97-9632323EB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82D8F9-F96F-B10F-14F2-272783BB75BF}"/>
              </a:ext>
            </a:extLst>
          </p:cNvPr>
          <p:cNvSpPr/>
          <p:nvPr/>
        </p:nvSpPr>
        <p:spPr>
          <a:xfrm>
            <a:off x="571500" y="571500"/>
            <a:ext cx="40902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39A0DC-0E72-A24C-D245-C62D9064AEC3}"/>
              </a:ext>
            </a:extLst>
          </p:cNvPr>
          <p:cNvSpPr/>
          <p:nvPr/>
        </p:nvSpPr>
        <p:spPr>
          <a:xfrm>
            <a:off x="571499" y="1219200"/>
            <a:ext cx="8054341" cy="261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Tx/>
              <a:buChar char="-"/>
            </a:pPr>
            <a:r>
              <a:rPr lang="en-AU" dirty="0">
                <a:solidFill>
                  <a:schemeClr val="bg1"/>
                </a:solidFill>
              </a:rPr>
              <a:t>Total Entries: ~1,490 individual question-answer pairs</a:t>
            </a:r>
          </a:p>
          <a:p>
            <a:pPr marL="285750" indent="-285750">
              <a:buFontTx/>
              <a:buChar char="-"/>
            </a:pPr>
            <a:endParaRPr lang="en-AU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AU" dirty="0">
                <a:solidFill>
                  <a:schemeClr val="bg1"/>
                </a:solidFill>
              </a:rPr>
              <a:t>Unique Dialogues: ~421 conversational sequences </a:t>
            </a:r>
          </a:p>
          <a:p>
            <a:endParaRPr lang="en-AU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AU" dirty="0">
                <a:solidFill>
                  <a:schemeClr val="bg1"/>
                </a:solidFill>
              </a:rPr>
              <a:t>Average Length: 3.5 turns per dialogue</a:t>
            </a:r>
          </a:p>
          <a:p>
            <a:pPr marL="285750" indent="-285750">
              <a:buFontTx/>
              <a:buChar char="-"/>
            </a:pPr>
            <a:endParaRPr lang="en-AU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AU" dirty="0">
                <a:solidFill>
                  <a:schemeClr val="bg1"/>
                </a:solidFill>
              </a:rPr>
              <a:t>Format: JSON array with structured annotations</a:t>
            </a:r>
          </a:p>
          <a:p>
            <a:pPr marL="285750" indent="-285750">
              <a:buFontTx/>
              <a:buChar char="-"/>
            </a:pPr>
            <a:endParaRPr lang="en-AU" dirty="0">
              <a:solidFill>
                <a:schemeClr val="bg1"/>
              </a:solidFill>
            </a:endParaRPr>
          </a:p>
          <a:p>
            <a:endParaRPr lang="en-AU" sz="20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0E0DF1-03DC-DBB1-8CEA-1915BEDA8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566" y="3413760"/>
            <a:ext cx="5663324" cy="123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62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3180AA-1360-123A-F1EA-C0336E00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32822FC-645E-48D5-EB36-1B014F8F70A1}"/>
              </a:ext>
            </a:extLst>
          </p:cNvPr>
          <p:cNvSpPr/>
          <p:nvPr/>
        </p:nvSpPr>
        <p:spPr>
          <a:xfrm>
            <a:off x="571500" y="571500"/>
            <a:ext cx="40902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7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CE7F7D-DF88-0707-ECB5-8E63C8DDED5A}"/>
              </a:ext>
            </a:extLst>
          </p:cNvPr>
          <p:cNvSpPr txBox="1"/>
          <p:nvPr/>
        </p:nvSpPr>
        <p:spPr>
          <a:xfrm>
            <a:off x="92216" y="1172666"/>
            <a:ext cx="231103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</a:rPr>
              <a:t>ConvFinQA</a:t>
            </a:r>
            <a:r>
              <a:rPr lang="en-US" sz="1400" dirty="0">
                <a:solidFill>
                  <a:schemeClr val="bg1"/>
                </a:solidFill>
              </a:rPr>
              <a:t> Dataset</a:t>
            </a:r>
            <a:endParaRPr lang="en-US" sz="14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AD8E88A-0499-5A12-FD86-9B428BADC924}"/>
              </a:ext>
            </a:extLst>
          </p:cNvPr>
          <p:cNvCxnSpPr>
            <a:cxnSpLocks/>
          </p:cNvCxnSpPr>
          <p:nvPr/>
        </p:nvCxnSpPr>
        <p:spPr>
          <a:xfrm>
            <a:off x="2052320" y="1450092"/>
            <a:ext cx="564293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BBFD5C8-EEB4-5182-A795-660621311C39}"/>
              </a:ext>
            </a:extLst>
          </p:cNvPr>
          <p:cNvSpPr txBox="1"/>
          <p:nvPr/>
        </p:nvSpPr>
        <p:spPr>
          <a:xfrm>
            <a:off x="2455817" y="1175889"/>
            <a:ext cx="231103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Data Preparation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</a:rPr>
              <a:t>(Dialogue grouping &amp; turn ordering)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AA3F37-9984-4A73-2908-A27E2FD18E8E}"/>
              </a:ext>
            </a:extLst>
          </p:cNvPr>
          <p:cNvSpPr txBox="1"/>
          <p:nvPr/>
        </p:nvSpPr>
        <p:spPr>
          <a:xfrm>
            <a:off x="5102134" y="1175889"/>
            <a:ext cx="23110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Document Context Builder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 (Text + HTML Table)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031DE6-8E64-A73F-A890-2C2F9B55C920}"/>
              </a:ext>
            </a:extLst>
          </p:cNvPr>
          <p:cNvSpPr txBox="1"/>
          <p:nvPr/>
        </p:nvSpPr>
        <p:spPr>
          <a:xfrm>
            <a:off x="838471" y="1971763"/>
            <a:ext cx="23110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Conversation Memory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 (Explicit message history)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DAA225-CD6F-59AF-A313-9153E06A69A3}"/>
              </a:ext>
            </a:extLst>
          </p:cNvPr>
          <p:cNvSpPr txBox="1"/>
          <p:nvPr/>
        </p:nvSpPr>
        <p:spPr>
          <a:xfrm>
            <a:off x="3253920" y="1971763"/>
            <a:ext cx="23110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LLM Invocation (GPT-4o)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 (Chat Completions API)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43BD9C-22C2-9784-52A7-F16720C9924C}"/>
              </a:ext>
            </a:extLst>
          </p:cNvPr>
          <p:cNvSpPr txBox="1"/>
          <p:nvPr/>
        </p:nvSpPr>
        <p:spPr>
          <a:xfrm>
            <a:off x="5432877" y="2039519"/>
            <a:ext cx="231103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Result Parsing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2C5F4C-2587-5BFC-989A-91AD7C73333C}"/>
              </a:ext>
            </a:extLst>
          </p:cNvPr>
          <p:cNvSpPr txBox="1"/>
          <p:nvPr/>
        </p:nvSpPr>
        <p:spPr>
          <a:xfrm>
            <a:off x="968646" y="2966802"/>
            <a:ext cx="231103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Numerical Validation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C64086-143D-6456-99A6-1613CBE190C1}"/>
              </a:ext>
            </a:extLst>
          </p:cNvPr>
          <p:cNvSpPr txBox="1"/>
          <p:nvPr/>
        </p:nvSpPr>
        <p:spPr>
          <a:xfrm>
            <a:off x="3108777" y="2966802"/>
            <a:ext cx="231103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Results Logging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AA73B28-99D7-133E-9053-C263EC8C8B48}"/>
              </a:ext>
            </a:extLst>
          </p:cNvPr>
          <p:cNvCxnSpPr>
            <a:cxnSpLocks/>
          </p:cNvCxnSpPr>
          <p:nvPr/>
        </p:nvCxnSpPr>
        <p:spPr>
          <a:xfrm>
            <a:off x="4661726" y="1444159"/>
            <a:ext cx="45056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0C43ED9-EAE0-32B4-1419-7AEF59309733}"/>
              </a:ext>
            </a:extLst>
          </p:cNvPr>
          <p:cNvCxnSpPr>
            <a:cxnSpLocks/>
          </p:cNvCxnSpPr>
          <p:nvPr/>
        </p:nvCxnSpPr>
        <p:spPr>
          <a:xfrm>
            <a:off x="574311" y="2274906"/>
            <a:ext cx="480332" cy="34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B449F7F-5041-011E-8818-6B383BC02082}"/>
              </a:ext>
            </a:extLst>
          </p:cNvPr>
          <p:cNvCxnSpPr>
            <a:cxnSpLocks/>
          </p:cNvCxnSpPr>
          <p:nvPr/>
        </p:nvCxnSpPr>
        <p:spPr>
          <a:xfrm>
            <a:off x="2906119" y="2276366"/>
            <a:ext cx="5075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C9BBDA-DF29-864B-6DF7-C4F821716906}"/>
              </a:ext>
            </a:extLst>
          </p:cNvPr>
          <p:cNvCxnSpPr>
            <a:cxnSpLocks/>
          </p:cNvCxnSpPr>
          <p:nvPr/>
        </p:nvCxnSpPr>
        <p:spPr>
          <a:xfrm>
            <a:off x="5432877" y="2203712"/>
            <a:ext cx="489494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FA4647B-540E-B4A6-BC75-A615AFDE70F7}"/>
              </a:ext>
            </a:extLst>
          </p:cNvPr>
          <p:cNvCxnSpPr>
            <a:cxnSpLocks/>
          </p:cNvCxnSpPr>
          <p:nvPr/>
        </p:nvCxnSpPr>
        <p:spPr>
          <a:xfrm>
            <a:off x="559164" y="3120689"/>
            <a:ext cx="54156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61B1CD5-DECB-A07B-1B78-4EB69AA56374}"/>
              </a:ext>
            </a:extLst>
          </p:cNvPr>
          <p:cNvCxnSpPr>
            <a:cxnSpLocks/>
          </p:cNvCxnSpPr>
          <p:nvPr/>
        </p:nvCxnSpPr>
        <p:spPr>
          <a:xfrm flipV="1">
            <a:off x="2976697" y="3120689"/>
            <a:ext cx="518707" cy="111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1942EB1-82E2-EBB5-C52A-D5397DC503D0}"/>
              </a:ext>
            </a:extLst>
          </p:cNvPr>
          <p:cNvCxnSpPr>
            <a:cxnSpLocks/>
          </p:cNvCxnSpPr>
          <p:nvPr/>
        </p:nvCxnSpPr>
        <p:spPr>
          <a:xfrm>
            <a:off x="7413171" y="1406025"/>
            <a:ext cx="45056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A56B6FE-38B4-341B-C3E6-81B6BF5248ED}"/>
              </a:ext>
            </a:extLst>
          </p:cNvPr>
          <p:cNvCxnSpPr>
            <a:cxnSpLocks/>
          </p:cNvCxnSpPr>
          <p:nvPr/>
        </p:nvCxnSpPr>
        <p:spPr>
          <a:xfrm>
            <a:off x="7413170" y="2203712"/>
            <a:ext cx="45056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9786F0DC-ADF9-6990-D9CE-F01C5CB97407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1499" y="1405320"/>
            <a:ext cx="7292240" cy="480311"/>
          </a:xfrm>
          <a:prstGeom prst="bentConnector3">
            <a:avLst>
              <a:gd name="adj1" fmla="val -157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4369571-AB48-9E15-0542-9F0D099FA4A2}"/>
              </a:ext>
            </a:extLst>
          </p:cNvPr>
          <p:cNvCxnSpPr/>
          <p:nvPr/>
        </p:nvCxnSpPr>
        <p:spPr>
          <a:xfrm>
            <a:off x="568690" y="1895939"/>
            <a:ext cx="0" cy="37896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305AC08F-B2AD-35E4-7A7C-CEE27A5FD668}"/>
              </a:ext>
            </a:extLst>
          </p:cNvPr>
          <p:cNvCxnSpPr>
            <a:cxnSpLocks/>
          </p:cNvCxnSpPr>
          <p:nvPr/>
        </p:nvCxnSpPr>
        <p:spPr>
          <a:xfrm rot="10800000" flipV="1">
            <a:off x="568690" y="2200538"/>
            <a:ext cx="7295049" cy="537488"/>
          </a:xfrm>
          <a:prstGeom prst="bentConnector3">
            <a:avLst>
              <a:gd name="adj1" fmla="val 1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32079E2-4A37-1CE1-1908-940146E87874}"/>
              </a:ext>
            </a:extLst>
          </p:cNvPr>
          <p:cNvCxnSpPr/>
          <p:nvPr/>
        </p:nvCxnSpPr>
        <p:spPr>
          <a:xfrm>
            <a:off x="571500" y="2722730"/>
            <a:ext cx="0" cy="37896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8858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95A9D-6A13-13D8-8240-47808D7C6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73E4BC-1BE0-67B9-8CC8-1766092376C6}"/>
              </a:ext>
            </a:extLst>
          </p:cNvPr>
          <p:cNvSpPr/>
          <p:nvPr/>
        </p:nvSpPr>
        <p:spPr>
          <a:xfrm>
            <a:off x="571500" y="571500"/>
            <a:ext cx="40902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7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B5FEE0-8FE8-FF50-798E-891AD5C1B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06623"/>
            <a:ext cx="8216730" cy="202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242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16424-9FF2-F7D3-DB8E-BA24BA72F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87B6F7-57D9-9085-D07B-ED91C439ABEE}"/>
              </a:ext>
            </a:extLst>
          </p:cNvPr>
          <p:cNvSpPr/>
          <p:nvPr/>
        </p:nvSpPr>
        <p:spPr>
          <a:xfrm>
            <a:off x="571500" y="571500"/>
            <a:ext cx="40902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Mismatched Case</a:t>
            </a:r>
            <a:endParaRPr 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8C2BAF-6C70-2E16-D8EA-716B80F31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025" y="914400"/>
            <a:ext cx="6881924" cy="400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798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D012C2-AA84-E5B2-D630-8B911F02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9E57F4-368E-00CD-6203-5E77219F98FA}"/>
              </a:ext>
            </a:extLst>
          </p:cNvPr>
          <p:cNvSpPr/>
          <p:nvPr/>
        </p:nvSpPr>
        <p:spPr>
          <a:xfrm>
            <a:off x="571500" y="571500"/>
            <a:ext cx="40902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Mismatched Case</a:t>
            </a:r>
            <a:endParaRPr lang="en-US" sz="2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D60B30-69BB-3BA2-9E17-D8BF9B2DF4C7}"/>
              </a:ext>
            </a:extLst>
          </p:cNvPr>
          <p:cNvSpPr txBox="1"/>
          <p:nvPr/>
        </p:nvSpPr>
        <p:spPr>
          <a:xfrm>
            <a:off x="1031358" y="1318437"/>
            <a:ext cx="613498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>
                <a:solidFill>
                  <a:schemeClr val="bg1"/>
                </a:solidFill>
              </a:rPr>
              <a:t>🎯 The Issue:</a:t>
            </a:r>
          </a:p>
          <a:p>
            <a:r>
              <a:rPr lang="en-AU" sz="1400" b="1" dirty="0">
                <a:solidFill>
                  <a:schemeClr val="bg1"/>
                </a:solidFill>
              </a:rPr>
              <a:t>Unit mismatch!</a:t>
            </a:r>
            <a:endParaRPr lang="en-AU" sz="1400" dirty="0">
              <a:solidFill>
                <a:schemeClr val="bg1"/>
              </a:solidFill>
            </a:endParaRPr>
          </a:p>
          <a:p>
            <a:r>
              <a:rPr lang="en-AU" sz="1400" b="1" dirty="0">
                <a:solidFill>
                  <a:schemeClr val="bg1"/>
                </a:solidFill>
              </a:rPr>
              <a:t>2006 value</a:t>
            </a:r>
            <a:r>
              <a:rPr lang="en-AU" sz="1400" dirty="0">
                <a:solidFill>
                  <a:schemeClr val="bg1"/>
                </a:solidFill>
              </a:rPr>
              <a:t>: $2242 </a:t>
            </a:r>
            <a:r>
              <a:rPr lang="en-AU" sz="1400" b="1" dirty="0">
                <a:solidFill>
                  <a:schemeClr val="bg1"/>
                </a:solidFill>
              </a:rPr>
              <a:t>million</a:t>
            </a:r>
            <a:endParaRPr lang="en-AU" sz="1400" dirty="0">
              <a:solidFill>
                <a:schemeClr val="bg1"/>
              </a:solidFill>
            </a:endParaRPr>
          </a:p>
          <a:p>
            <a:r>
              <a:rPr lang="en-AU" sz="1400" b="1" dirty="0">
                <a:solidFill>
                  <a:schemeClr val="bg1"/>
                </a:solidFill>
              </a:rPr>
              <a:t>2007 value</a:t>
            </a:r>
            <a:r>
              <a:rPr lang="en-AU" sz="1400" dirty="0">
                <a:solidFill>
                  <a:schemeClr val="bg1"/>
                </a:solidFill>
              </a:rPr>
              <a:t>: $3.2 </a:t>
            </a:r>
            <a:r>
              <a:rPr lang="en-AU" sz="1400" b="1" dirty="0">
                <a:solidFill>
                  <a:schemeClr val="bg1"/>
                </a:solidFill>
              </a:rPr>
              <a:t>billion</a:t>
            </a:r>
            <a:r>
              <a:rPr lang="en-AU" sz="1400" dirty="0">
                <a:solidFill>
                  <a:schemeClr val="bg1"/>
                </a:solidFill>
              </a:rPr>
              <a:t> = $3200 </a:t>
            </a:r>
            <a:r>
              <a:rPr lang="en-AU" sz="1400" b="1" dirty="0">
                <a:solidFill>
                  <a:schemeClr val="bg1"/>
                </a:solidFill>
              </a:rPr>
              <a:t>million</a:t>
            </a:r>
            <a:endParaRPr lang="en-AU" sz="1400" dirty="0">
              <a:solidFill>
                <a:schemeClr val="bg1"/>
              </a:solidFill>
            </a:endParaRPr>
          </a:p>
          <a:p>
            <a:r>
              <a:rPr lang="en-AU" sz="1400" b="1" dirty="0">
                <a:solidFill>
                  <a:schemeClr val="bg1"/>
                </a:solidFill>
              </a:rPr>
              <a:t>Dataset calculation</a:t>
            </a:r>
            <a:r>
              <a:rPr lang="en-AU" sz="1400" dirty="0">
                <a:solidFill>
                  <a:schemeClr val="bg1"/>
                </a:solidFill>
              </a:rPr>
              <a:t>: 3.2 - 2242 = -2238.8 ❌ (Wrong! Mixed units)</a:t>
            </a:r>
          </a:p>
          <a:p>
            <a:r>
              <a:rPr lang="en-AU" sz="1400" b="1" dirty="0">
                <a:solidFill>
                  <a:schemeClr val="bg1"/>
                </a:solidFill>
              </a:rPr>
              <a:t>LLM calculation</a:t>
            </a:r>
            <a:r>
              <a:rPr lang="en-AU" sz="1400" dirty="0">
                <a:solidFill>
                  <a:schemeClr val="bg1"/>
                </a:solidFill>
              </a:rPr>
              <a:t>: 3200 - 2242 = 958 ✅ (Correct! Same units)</a:t>
            </a:r>
          </a:p>
          <a:p>
            <a:r>
              <a:rPr lang="en-AU" sz="1400" b="1" dirty="0">
                <a:solidFill>
                  <a:schemeClr val="bg1"/>
                </a:solidFill>
              </a:rPr>
              <a:t>💡 What's Wrong:</a:t>
            </a:r>
          </a:p>
          <a:p>
            <a:r>
              <a:rPr lang="en-AU" sz="1400" dirty="0">
                <a:solidFill>
                  <a:schemeClr val="bg1"/>
                </a:solidFill>
              </a:rPr>
              <a:t>The </a:t>
            </a:r>
            <a:r>
              <a:rPr lang="en-AU" sz="1400" b="1" dirty="0">
                <a:solidFill>
                  <a:schemeClr val="bg1"/>
                </a:solidFill>
              </a:rPr>
              <a:t>dataset annotation is incorrect</a:t>
            </a:r>
            <a:r>
              <a:rPr lang="en-AU" sz="1400" dirty="0">
                <a:solidFill>
                  <a:schemeClr val="bg1"/>
                </a:solidFill>
              </a:rPr>
              <a:t>! It's doing:</a:t>
            </a:r>
          </a:p>
          <a:p>
            <a:r>
              <a:rPr lang="en-AU" sz="1400" dirty="0">
                <a:solidFill>
                  <a:schemeClr val="bg1"/>
                </a:solidFill>
              </a:rPr>
              <a:t>3.2 billion - 2242 million</a:t>
            </a:r>
          </a:p>
          <a:p>
            <a:r>
              <a:rPr lang="en-AU" sz="1400" dirty="0">
                <a:solidFill>
                  <a:schemeClr val="bg1"/>
                </a:solidFill>
              </a:rPr>
              <a:t>But treating 3.2 billion as just "3.2" instead of converting to 3200 million</a:t>
            </a:r>
          </a:p>
          <a:p>
            <a:r>
              <a:rPr lang="en-AU" sz="1400" dirty="0">
                <a:solidFill>
                  <a:schemeClr val="bg1"/>
                </a:solidFill>
              </a:rPr>
              <a:t>The LLM is actually </a:t>
            </a:r>
            <a:r>
              <a:rPr lang="en-AU" sz="1400" b="1" dirty="0">
                <a:solidFill>
                  <a:schemeClr val="bg1"/>
                </a:solidFill>
              </a:rPr>
              <a:t>correct</a:t>
            </a:r>
            <a:r>
              <a:rPr lang="en-AU" sz="1400" dirty="0">
                <a:solidFill>
                  <a:schemeClr val="bg1"/>
                </a:solidFill>
              </a:rPr>
              <a:t>:</a:t>
            </a:r>
          </a:p>
          <a:p>
            <a:r>
              <a:rPr lang="en-AU" sz="1400" dirty="0">
                <a:solidFill>
                  <a:schemeClr val="bg1"/>
                </a:solidFill>
              </a:rPr>
              <a:t>2006: $2242 million</a:t>
            </a:r>
          </a:p>
          <a:p>
            <a:r>
              <a:rPr lang="en-AU" sz="1400" dirty="0">
                <a:solidFill>
                  <a:schemeClr val="bg1"/>
                </a:solidFill>
              </a:rPr>
              <a:t>2007: $3.2 billion = $3200 million</a:t>
            </a:r>
          </a:p>
          <a:p>
            <a:r>
              <a:rPr lang="en-AU" sz="1400" dirty="0">
                <a:solidFill>
                  <a:schemeClr val="bg1"/>
                </a:solidFill>
              </a:rPr>
              <a:t>Change: $3200M - $2242M = </a:t>
            </a:r>
            <a:r>
              <a:rPr lang="en-AU" sz="1400" b="1" dirty="0">
                <a:solidFill>
                  <a:schemeClr val="bg1"/>
                </a:solidFill>
              </a:rPr>
              <a:t>$958M increase</a:t>
            </a:r>
            <a:r>
              <a:rPr lang="en-AU" sz="1400" dirty="0">
                <a:solidFill>
                  <a:schemeClr val="bg1"/>
                </a:solidFill>
              </a:rPr>
              <a:t> ✅</a:t>
            </a:r>
          </a:p>
        </p:txBody>
      </p:sp>
    </p:spTree>
    <p:extLst>
      <p:ext uri="{BB962C8B-B14F-4D97-AF65-F5344CB8AC3E}">
        <p14:creationId xmlns:p14="http://schemas.microsoft.com/office/powerpoint/2010/main" val="3219767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C670A1-C0E9-4115-EDEA-FC0418503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36CB3D6-7E7F-FC45-3497-7035B7D362B0}"/>
              </a:ext>
            </a:extLst>
          </p:cNvPr>
          <p:cNvSpPr/>
          <p:nvPr/>
        </p:nvSpPr>
        <p:spPr>
          <a:xfrm>
            <a:off x="571500" y="571500"/>
            <a:ext cx="40902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Improvements</a:t>
            </a:r>
            <a:endParaRPr lang="en-US" sz="2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3BC5BC-3246-21F7-5587-5AC58ADF5DD6}"/>
              </a:ext>
            </a:extLst>
          </p:cNvPr>
          <p:cNvSpPr txBox="1"/>
          <p:nvPr/>
        </p:nvSpPr>
        <p:spPr>
          <a:xfrm>
            <a:off x="571500" y="1309255"/>
            <a:ext cx="62345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Going through mismatched items and identifying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Improve the prompts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Compare with different LLM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bg1"/>
                </a:solidFill>
              </a:rPr>
              <a:t>Convert HTML tables into structured representations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bg1"/>
                </a:solidFill>
              </a:rPr>
              <a:t>Combine LLM reasoning with lightweight symbolic computation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101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19189</TotalTime>
  <Words>294</Words>
  <Application>Microsoft Macintosh PowerPoint</Application>
  <PresentationFormat>On-screen Show (16:9)</PresentationFormat>
  <Paragraphs>58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NubaAI Pitch Deck</dc:title>
  <dc:subject>PptxGenJS Presentation</dc:subject>
  <dc:creator>PptxGenJS</dc:creator>
  <cp:lastModifiedBy>Ammar  Mohemmed</cp:lastModifiedBy>
  <cp:revision>6</cp:revision>
  <dcterms:created xsi:type="dcterms:W3CDTF">2025-12-11T10:01:54Z</dcterms:created>
  <dcterms:modified xsi:type="dcterms:W3CDTF">2025-12-25T04:21:54Z</dcterms:modified>
</cp:coreProperties>
</file>